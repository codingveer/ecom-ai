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judges. Today we are demonstrating Neu.Tail, our edge-native multi-agent assistant built for Mission #4. We are moving eCommerce personalization from generic marketing chat into an explainable, zero-trust system that actively solves fashion's greatest crisis: the 34% return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the empirical baseline. In our committed seed dataset, there are 1,120 items and 381 returns—exactly 34.0%. 58% of these returns are tagged size_fit. Our mission is to move this number using specialized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architectural mic-drop for the judges: 3 of our 4 Workers have NO D1 database binding. Agents communicate exclusively via typed MCP contracts over private Service Bindings. The agent cannot leak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the two tiers of memory. Within-session memory lives in Durable Objects—it survives deploys and cold starts. Across-session memory writes back to D1 through context service contracts. Context never leaks between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1 profiles customers without asking intrusive questions. It uses 3 weighted behavioral signals. Notice the PII guardrail: raw identifiers are scrubbed before any model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2 demonstrates discovery personalization. Same query, different results. Notice our fairness backstop: if personalization tries to isolate a shopper in a single tier, the guardrail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3 is our direct lever on returns. We don't use fake centimeter offsets—we derive sizing from 120k real rows. Crucially, if confidence is below 70%, the agent abstains. No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hackathon brief permitted selecting either Upsell or Loyalty. We built BOTH because the handoff between them is the ultimate proof of cross-agent shared memory. Loyalty reads what Upsell wrote.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 asks for a cut-down MCP layer and an LLM gateway. Our tools live in KV—we can install new tools live with curl. Our LLM gateway abstracts all provider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where we win the technical judges: our return reduction is modeled from the live database. We also tell the truth: AI alone drops returns to 20.4%. Closing to 10% requires retail policy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3 explicitly asks to call out deviations. Volunteering these before judges ask shows senior engineering judgment. Every deviation was an architectural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exact 10-beat cue sheet during the live demo. It guarantees every hackathon objective is hit within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these three answers in mind during Q&amp;A. They address security, ethics, and reliability head-on.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Neu.Tail proves that multi-agent systems in retail can be secure, fair, explainable, and profitable. We are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114800" cy="411480"/>
          </a:xfrm>
          <a:prstGeom prst="roundRect">
            <a:avLst/>
          </a:prstGeom>
          <a:solidFill>
            <a:srgbClr val="1E29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MISSION #4 — WORKING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Neu.Tail — Digital Personalisation Assistant</a:t>
            </a:r>
          </a:p>
          <a:p>
            <a:pPr>
              <a:spcBef>
                <a:spcPts val="1000"/>
              </a:spcBef>
              <a:defRPr sz="1800">
                <a:solidFill>
                  <a:srgbClr val="F59E0B"/>
                </a:solidFill>
              </a:defRPr>
            </a:pPr>
            <a:r>
              <a:t>Edge-Native Multi-Agent Personalization with Platform-Enforced Zero-Trust Data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698480" cy="164592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48056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300">
                <a:solidFill>
                  <a:srgbClr val="38BDF8"/>
                </a:solidFill>
              </a:rPr>
              <a:t>•  Platform:</a:t>
            </a:r>
            <a:r>
              <a:rPr sz="1300">
                <a:solidFill>
                  <a:srgbClr val="F8FAFC"/>
                </a:solidFill>
              </a:rPr>
              <a:t> 4 Isolated Cloudflare Workers (Services, Tools MCP, LLM Gateway, Orchestrator App)</a:t>
            </a:r>
          </a:p>
          <a:p>
            <a:pPr>
              <a:spcBef>
                <a:spcPts val="400"/>
              </a:spcBef>
            </a:pPr>
            <a:r>
              <a:rPr b="1" sz="1300">
                <a:solidFill>
                  <a:srgbClr val="38BDF8"/>
                </a:solidFill>
              </a:rPr>
              <a:t>•  Architecture:</a:t>
            </a:r>
            <a:r>
              <a:rPr sz="1300">
                <a:solidFill>
                  <a:srgbClr val="F8FAFC"/>
                </a:solidFill>
              </a:rPr>
              <a:t> 5 Specialized Autonomous Agents, Durable Objects for Serialized Sessions, KV Tool Registry</a:t>
            </a:r>
          </a:p>
          <a:p>
            <a:pPr>
              <a:spcBef>
                <a:spcPts val="400"/>
              </a:spcBef>
            </a:pPr>
            <a:r>
              <a:rPr b="1" sz="1300">
                <a:solidFill>
                  <a:srgbClr val="38BDF8"/>
                </a:solidFill>
              </a:rPr>
              <a:t>•  Measurable Impact:</a:t>
            </a:r>
            <a:r>
              <a:rPr sz="1300">
                <a:solidFill>
                  <a:srgbClr val="F8FAFC"/>
                </a:solidFill>
              </a:rPr>
              <a:t> Reduces apparel baseline return rate from 34.0% down to 20.4% via anthropometric sizing</a:t>
            </a:r>
          </a:p>
          <a:p>
            <a:pPr>
              <a:spcBef>
                <a:spcPts val="400"/>
              </a:spcBef>
            </a:pPr>
            <a:r>
              <a:rPr b="1" sz="1300">
                <a:solidFill>
                  <a:srgbClr val="38BDF8"/>
                </a:solidFill>
              </a:rPr>
              <a:t>•  Hackathon Mission:</a:t>
            </a:r>
            <a:r>
              <a:rPr sz="1300">
                <a:solidFill>
                  <a:srgbClr val="F8FAFC"/>
                </a:solidFill>
              </a:rPr>
              <a:t> Digital Architect Society — Mission #4 Complete Build &amp;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PROBLEM STATEMENT &amp; COMMERCIAL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34% Returns Crisis in Fashion eCommerce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eCommerce profitability is bleeding from reverse logistics, driven by size mismatches and unguided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201168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34.0% Baseline Return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Synthetic Universe Grounding:</a:t>
            </a:r>
            <a:br/>
            <a:r>
              <a:t>• 1,120 Order items</a:t>
            </a:r>
            <a:br/>
            <a:r>
              <a:t>• 381 Total returns</a:t>
            </a:r>
            <a:br/>
            <a:r>
              <a:t>• Exact baseline match from M3 blueprint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91840" cy="201168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58.0% Size &amp; Fit 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Root Cause Breakdown:</a:t>
            </a:r>
            <a:br/>
            <a:r>
              <a:t>• 19.7 points of the 34%</a:t>
            </a:r>
            <a:br/>
            <a:r>
              <a:t>• Customers ordering multiple sizes</a:t>
            </a:r>
            <a:br/>
            <a:r>
              <a:t>• Brand grading variations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201168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22.0% Changed Mind /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Discovery Misalignment:</a:t>
            </a:r>
            <a:br/>
            <a:r>
              <a:t>• 7.5 points of the 34%</a:t>
            </a:r>
            <a:br/>
            <a:r>
              <a:t>• Uncurated recommendations</a:t>
            </a:r>
            <a:br/>
            <a:r>
              <a:t>• Mismatched price/quality expectations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Core Engineering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300">
                <a:solidFill>
                  <a:srgbClr val="10B981"/>
                </a:solidFill>
              </a:rPr>
              <a:t>✓  The AI Trap: </a:t>
            </a:r>
            <a:r>
              <a:rPr sz="1300">
                <a:solidFill>
                  <a:srgbClr val="F8FAFC"/>
                </a:solidFill>
              </a:rPr>
              <a:t>Generic chatbots increase returns by enthusiastically confirming wrong sizes based on probabilistic guesses.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10B981"/>
                </a:solidFill>
              </a:rPr>
              <a:t>✓  The Neu.Tail Rule: </a:t>
            </a:r>
            <a:r>
              <a:rPr sz="1300">
                <a:solidFill>
                  <a:srgbClr val="F8FAFC"/>
                </a:solidFill>
              </a:rPr>
              <a:t>A size recommendation must be grounded in empirical anthropometrics, and the agent must ABSTAIN when confidence is &lt;70%.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10B981"/>
                </a:solidFill>
              </a:rPr>
              <a:t>✓  Commercial Goal: </a:t>
            </a:r>
            <a:r>
              <a:rPr sz="1300">
                <a:solidFill>
                  <a:srgbClr val="F8FAFC"/>
                </a:solidFill>
              </a:rPr>
              <a:t>Safely capture 13.6 percentage points of returns reduction, dropping baseline returns from 34.0% to 20.4%.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ARCHITECTURE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Platform-Enforced Zero-Trust Micro-Workers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Security and isolation are enforced by Cloudflare Worker capability bindings, not developer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3657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Worker #1: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neutail-services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SOLE database binding (D1)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SQL Customer 360, Products, Orders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Anthropometric size charts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Unroutable from public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14600" cy="3657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9202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Worker #2: Tools (MCP)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1945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neutail-tools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6032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Cut-down MCP Access Layer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Declarative JSON Contracts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Runtime KV Tool Registry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Append-only Analytics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37360"/>
            <a:ext cx="2514600" cy="3657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9202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Worker #3: LLM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945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neutail-llm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56032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Model class routing (reasoning/low_lat)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Cloudflare AI Gateway (caching/limits)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UsageCounter Durable Object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Graceful mock degradation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737360"/>
            <a:ext cx="2514600" cy="3657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9202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Worker #4: App /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194560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neutail-app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56032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SessionAgent Durable Object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Five Specialized Agent modules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Inline Policy-as-code guardrails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ZERO database bindings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E294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F43F5E"/>
                </a:solidFill>
              </a:rPr>
              <a:t>THE ZERO-TRUST ENFORCEMENT: </a:t>
            </a:r>
            <a:r>
              <a:rPr sz="1100">
                <a:solidFill>
                  <a:srgbClr val="F8FAFC"/>
                </a:solidFill>
              </a:rPr>
              <a:t>Look at the 4 wrangler configs. 3 have NO database binding. The agent Worker physically cannot run SQL or leak raw data—the platform denies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ORCHESTRATION &amp; STATE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Turn Lifecycle &amp; Durable Session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Every turn is serialised inside a Cloudflare Durable Object with zero cross-customer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Orchestration Execution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1. Ingestion &amp; Credit Gate: </a:t>
            </a:r>
            <a:r>
              <a:rPr sz="1100">
                <a:solidFill>
                  <a:srgbClr val="F8FAFC"/>
                </a:solidFill>
              </a:rPr>
              <a:t>WebSocket / HTTP invokes handleTurn(); turn credits verified to prevent runaway LLM costs.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2. Customer Isolation Check: </a:t>
            </a:r>
            <a:r>
              <a:rPr sz="1100">
                <a:solidFill>
                  <a:srgbClr val="F8FAFC"/>
                </a:solidFill>
              </a:rPr>
              <a:t>If customerId differs from stored session, DO wipes memory clean immediately.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3. Lazy Profiling Dispatch (S1.6): </a:t>
            </a:r>
            <a:r>
              <a:rPr sz="1100">
                <a:solidFill>
                  <a:srgbClr val="F8FAFC"/>
                </a:solidFill>
              </a:rPr>
              <a:t>If session has no segment, Profiling Agent computes affluence &amp; writes to D1 context.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4. Intent Classification (S1.4): </a:t>
            </a:r>
            <a:r>
              <a:rPr sz="1100">
                <a:solidFill>
                  <a:srgbClr val="F8FAFC"/>
                </a:solidFill>
              </a:rPr>
              <a:t>LLM Gateway classifies intent with 4-turn dialogue context into one of five agents.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5. Agent Execution &amp; Policy Backstop: </a:t>
            </a:r>
            <a:r>
              <a:rPr sz="1100">
                <a:solidFill>
                  <a:srgbClr val="F8FAFC"/>
                </a:solidFill>
              </a:rPr>
              <a:t>Specialized agent invokes MCP tools &amp; evaluates inline TypeScript policy predicates.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6. Explainable Rationale &amp; Trace: </a:t>
            </a:r>
            <a:r>
              <a:rPr sz="1100">
                <a:solidFill>
                  <a:srgbClr val="F8FAFC"/>
                </a:solidFill>
              </a:rPr>
              <a:t>Kernel assembles response with complete trace array mapped to M3 blueprint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737360"/>
            <a:ext cx="42976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9202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Two-Tier Memory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Within-Session Memory: </a:t>
            </a:r>
            <a:r>
              <a:rPr sz="1100">
                <a:solidFill>
                  <a:srgbClr val="F8FAFC"/>
                </a:solidFill>
              </a:rPr>
              <a:t>
Durable Object storage (ctx.storage)
• Turn history &amp; detected intents
• Working customer segment
• Last viewed SKU &amp; category
• Pending upsell offer state
• Survives deploys and restarts!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Across-Session Memory: </a:t>
            </a:r>
            <a:r>
              <a:rPr sz="1100">
                <a:solidFill>
                  <a:srgbClr val="F8FAFC"/>
                </a:solidFill>
              </a:rPr>
              <a:t>
Cloudflare D1 (context_store table)
• Long-term segment &amp; propensity
• Confirmed fit recommendations
• Active subscription entitlements
• Engagement &amp; loyalty balance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Strict Boundary Guarantee: </a:t>
            </a:r>
            <a:r>
              <a:rPr sz="1100">
                <a:solidFill>
                  <a:srgbClr val="F8FAFC"/>
                </a:solidFill>
              </a:rPr>
              <a:t>
No customer context ever crosses IDs, even if a session identifier is accidentally reused.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AGENT #1: PROFILING &amp; SEGMENTATION (M3 SEQUENCE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Deterministic Affluence &amp; PII Minimisation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Profiles customers live on Turn 1 from observable purchase patterns without using any protected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Objective Affluence Scoring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Affluence Score = 0.40 × AUP_Score + 0.35 × Premium_Share + 0.25 × Spend_Score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AUP Score (40%): </a:t>
            </a:r>
            <a:r>
              <a:rPr sz="1100">
                <a:solidFill>
                  <a:srgbClr val="F8FAFC"/>
                </a:solidFill>
              </a:rPr>
              <a:t>min(1.0, Average Unit Price GBP / 120)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Premium Share (35%): </a:t>
            </a:r>
            <a:r>
              <a:rPr sz="1100">
                <a:solidFill>
                  <a:srgbClr val="F8FAFC"/>
                </a:solidFill>
              </a:rPr>
              <a:t>min(1.0, Premium SKUs bought / 0.60)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Spend Score (25%): </a:t>
            </a:r>
            <a:r>
              <a:rPr sz="1100">
                <a:solidFill>
                  <a:srgbClr val="F8FAFC"/>
                </a:solidFill>
              </a:rPr>
              <a:t>min(1.0, Annual Spend GBP / 3,500)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Segment Classification: </a:t>
            </a:r>
            <a:r>
              <a:rPr sz="1100">
                <a:solidFill>
                  <a:srgbClr val="F8FAFC"/>
                </a:solidFill>
              </a:rPr>
              <a:t>• Score &gt;= 0.62 -&gt; Affluent (Priya C001: 0.77)
• Score &gt;= 0.32 -&gt; Mid (Arjun C004: 0.44)
• Score &lt; 0.32 -&gt; Value-Seeking (Aditi C002: 0.18)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Loyalty Status: </a:t>
            </a:r>
            <a:r>
              <a:rPr sz="1100">
                <a:solidFill>
                  <a:srgbClr val="F8FAFC"/>
                </a:solidFill>
              </a:rPr>
              <a:t>Orders &gt;= 8 &amp; Tenure &gt; 270d -&gt; 'loyal'
Orders &gt;= 3 -&gt; 'developing', else 'new'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Inline Policy Guardrail: PII Minimisation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10B981"/>
                </a:solidFill>
              </a:rPr>
              <a:t>The Rule: </a:t>
            </a:r>
            <a:r>
              <a:rPr sz="1100">
                <a:solidFill>
                  <a:srgbClr val="F8FAFC"/>
                </a:solidFill>
              </a:rPr>
              <a:t>
No raw personal identity markers (names, emails, phone numbers, addresses) may ever leave the Customer 360 boundary.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B981"/>
                </a:solidFill>
              </a:rPr>
              <a:t>Execution Point: </a:t>
            </a:r>
            <a:r>
              <a:rPr sz="1100">
                <a:solidFill>
                  <a:srgbClr val="F8FAFC"/>
                </a:solidFill>
              </a:rPr>
              <a:t>
Evaluated inline via piiMinimisation() before segment is passed to any downstream agent or LLM prompt.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B981"/>
                </a:solidFill>
              </a:rPr>
              <a:t>Downstream Model Payload: </a:t>
            </a:r>
            <a:r>
              <a:rPr sz="1100">
                <a:solidFill>
                  <a:srgbClr val="F8FAFC"/>
                </a:solidFill>
              </a:rPr>
              <a:t>
Carries ONLY derived features:
• affluence: 'affluent' / 'value_seeking'
• loyalty_status: 'loyal' / 'new'
• avg_unit_price: 114.20
• tenure_days: 340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B981"/>
                </a:solidFill>
              </a:rPr>
              <a:t>Audit Logging: </a:t>
            </a:r>
            <a:r>
              <a:rPr sz="1100">
                <a:solidFill>
                  <a:srgbClr val="F8FAFC"/>
                </a:solidFill>
              </a:rPr>
              <a:t>
Pass/block verdict is permanently recorded in the response trace and Cloudflare Analytics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AGENT #2: DISCOVERY &amp; RECOMMENDATION (M3 SEQUENCE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Personalised Ranking with Algorithmic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Same query returns different products for affluent vs value customers, while guaranteeing equal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Multi-Factor Ranking Objective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Score = Relevance + (TierWeight × 0.5) + (Rating × 0.35) + StockBoost + FitBoost - (ReturnRate × 1.2)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Affluent Tier Weights: </a:t>
            </a:r>
            <a:r>
              <a:rPr sz="1100">
                <a:solidFill>
                  <a:srgbClr val="F8FAFC"/>
                </a:solidFill>
              </a:rPr>
              <a:t>Premium (3.0x), Core (1.6x), Private Label (0.4x), Value (0.2x)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Value-Seeking Tier Weights: </a:t>
            </a:r>
            <a:r>
              <a:rPr sz="1100">
                <a:solidFill>
                  <a:srgbClr val="F8FAFC"/>
                </a:solidFill>
              </a:rPr>
              <a:t>Value (3.0x), Private Label (2.6x), Core (1.2x), Premium (0.3x)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Fit-Aware Weighting: </a:t>
            </a:r>
            <a:r>
              <a:rPr sz="1100">
                <a:solidFill>
                  <a:srgbClr val="F8FAFC"/>
                </a:solidFill>
              </a:rPr>
              <a:t>+0.6 boost if customer's known size is currently in stock!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Return Rate Penalty: </a:t>
            </a:r>
            <a:r>
              <a:rPr sz="1100">
                <a:solidFill>
                  <a:srgbClr val="F8FAFC"/>
                </a:solidFill>
              </a:rPr>
              <a:t>Directly penalizes SKUs with high historical return rates (-1.2x return_rate).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Dual Search Mode: </a:t>
            </a:r>
            <a:r>
              <a:rPr sz="1100">
                <a:solidFill>
                  <a:srgbClr val="F8FAFC"/>
                </a:solidFill>
              </a:rPr>
              <a:t>Fast lexical default + Opt-in semantic search with Cloudflare Vectorize (BGE-base-en-v1.5).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Diversity Floor &amp; Fairness 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The Core Motto: </a:t>
            </a:r>
            <a:r>
              <a:rPr sz="1100">
                <a:solidFill>
                  <a:srgbClr val="F8FAFC"/>
                </a:solidFill>
              </a:rPr>
              <a:t>
"Ranking differs, access does not."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Criterion 1: Identical Eligibility: </a:t>
            </a:r>
            <a:r>
              <a:rPr sz="1100">
                <a:solidFill>
                  <a:srgbClr val="F8FAFC"/>
                </a:solidFill>
              </a:rPr>
              <a:t>
Candidate pool size must be 100% identical across segments (zero catalog redlining).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Criterion 2: Diversity Floor: </a:t>
            </a:r>
            <a:r>
              <a:rPr sz="1100">
                <a:solidFill>
                  <a:srgbClr val="F8FAFC"/>
                </a:solidFill>
              </a:rPr>
              <a:t>
Agent enforces at least two price tiers in the top 10 to prevent algorithmic exclusion.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Criterion 3: Neutral Comparator: </a:t>
            </a:r>
            <a:r>
              <a:rPr sz="1100">
                <a:solidFill>
                  <a:srgbClr val="F8FAFC"/>
                </a:solidFill>
              </a:rPr>
              <a:t>
Personalized rankings are verified against a neutral sorting (relevance &amp; rating only).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43F5E"/>
                </a:solidFill>
              </a:rPr>
              <a:t>Live Demo Toggle (unsafeRanking): </a:t>
            </a:r>
            <a:r>
              <a:rPr sz="1100">
                <a:solidFill>
                  <a:srgbClr val="F8FAFC"/>
                </a:solidFill>
              </a:rPr>
              <a:t>
Sending unsafeRanking: true disables the diversity floor; the fairness guardrail visibly BLOCKS and serves neutral ranking!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AGENT #3: SIZE &amp; FIT PERSONALISATION (M3 SEQUENCE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Anthropometric Sizing Science &amp; The Abstain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The direct lever on 58% of the returns crisis, combining real data with strict consent.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1. Strict Consent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Body measurements are highly sensitive data.</a:t>
            </a:r>
            <a:br/>
            <a:br/>
            <a:r>
              <a:t>• Checked via fitConsent() before reading any metrics.</a:t>
            </a:r>
            <a:br/>
            <a:br/>
            <a:r>
              <a:t>• If consent_fit = false, measurements are NOT read.</a:t>
            </a:r>
            <a:br/>
            <a:br/>
            <a:r>
              <a:t>• Immediately degrades to generic size chart.</a:t>
            </a:r>
            <a:br/>
            <a:br/>
            <a:r>
              <a:t>• Zero unauthorized biometric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9184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120k Anthropometrics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Grounded on 120,000 real sizing records (fitment_dat.csv):</a:t>
            </a:r>
            <a:br/>
            <a:br/>
            <a:r>
              <a:t>• Category distribution: height/weight averages &amp; stdevs.</a:t>
            </a:r>
            <a:br/>
            <a:br/>
            <a:r>
              <a:t>• Normalised Z-score distance:</a:t>
            </a:r>
            <a:br/>
            <a:r>
              <a:t>  Delta = (|H - avg_H| / std_H + |W - avg_W| / std_W) / 2</a:t>
            </a:r>
            <a:br/>
            <a:br/>
            <a:r>
              <a:t>• Brand cut compensation:</a:t>
            </a:r>
            <a:br/>
            <a:r>
              <a:t>  (runs_small, runs_large, relaxed fit).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The 70% Abstain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Confidence Scorecard:</a:t>
            </a:r>
            <a:br/>
            <a:r>
              <a:t>• Base: 45 pts</a:t>
            </a:r>
            <a:br/>
            <a:r>
              <a:t>• +5 pts per kept purchase</a:t>
            </a:r>
            <a:br/>
            <a:r>
              <a:t>• +20 pts for low Z-distance</a:t>
            </a:r>
            <a:br/>
            <a:r>
              <a:t>• -12 pts per prior return with brand</a:t>
            </a:r>
            <a:br/>
            <a:br/>
            <a:r>
              <a:t>THE COMMERCIAL RULE:</a:t>
            </a:r>
            <a:br/>
            <a:r>
              <a:t>If confidence &lt; 70% -&gt; ABSTAIN!</a:t>
            </a:r>
            <a:br/>
            <a:r>
              <a:t>Wrong recommendations create returns. Silence protects margin.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AGENTS #4 &amp; #5: MONETISATION &amp; LOYALTY (M3 SEQUENCES 4 &amp;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Value-Timed Upsell &amp; Cross-Agent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Proving cross-agent collaboration: the Loyalty Agent reads the entitlement written by the Upsell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Agent #4: Styling Advisory Upsell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Moment of Demonstrated Value: </a:t>
            </a:r>
            <a:r>
              <a:rPr sz="1100">
                <a:solidFill>
                  <a:srgbClr val="F8FAFC"/>
                </a:solidFill>
              </a:rPr>
              <a:t>
Free Styling Advisory sessions are tracked; offer fires ONLY at the 3rd completed session (Meera C003).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Policy-Governed Frequency Cap: </a:t>
            </a:r>
            <a:r>
              <a:rPr sz="1100">
                <a:solidFill>
                  <a:srgbClr val="F8FAFC"/>
                </a:solidFill>
              </a:rPr>
              <a:t>
upsellFrequencyCap() enforces 7-day cooldown; permanently suppresses after 2 declined offers. Agent cannot overrule policy!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Offer Presentation: </a:t>
            </a:r>
            <a:r>
              <a:rPr sz="1100">
                <a:solidFill>
                  <a:srgbClr val="F8FAFC"/>
                </a:solidFill>
              </a:rPr>
              <a:t>
Styling Plus for £4.99/mo with AI concierge and 2x loyalty accrual multiplier.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</a:rPr>
              <a:t>Entitlement Write: </a:t>
            </a:r>
            <a:r>
              <a:rPr sz="1100">
                <a:solidFill>
                  <a:srgbClr val="F8FAFC"/>
                </a:solidFill>
              </a:rPr>
              <a:t>
Upon customer 'accept', writes tier: 'plus' to persistent D1 context_store.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Agent #5: Cross-Agent Loyalty Accrual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The Cross-Agent Handshake: </a:t>
            </a:r>
            <a:r>
              <a:rPr sz="1100">
                <a:solidFill>
                  <a:srgbClr val="F8FAFC"/>
                </a:solidFill>
              </a:rPr>
              <a:t>
When loyalty balance or accrual is checked, Loyalty Agent calls subscription.get via MCP tool gateway.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Entitlement Read: </a:t>
            </a:r>
            <a:r>
              <a:rPr sz="1100">
                <a:solidFill>
                  <a:srgbClr val="F8FAFC"/>
                </a:solidFill>
              </a:rPr>
              <a:t>
Reads the 'plus' subscription tier written by Agent #4 in the previous turn!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Dynamic Multiplier Application: </a:t>
            </a:r>
            <a:r>
              <a:rPr sz="1100">
                <a:solidFill>
                  <a:srgbClr val="F8FAFC"/>
                </a:solidFill>
              </a:rPr>
              <a:t>
Automatically upgrades point multiplier from 1x to 2x (or 3x for Premium).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38BDF8"/>
                </a:solidFill>
              </a:rPr>
              <a:t>Gamification &amp; Liability Tracking: </a:t>
            </a:r>
            <a:r>
              <a:rPr sz="1100">
                <a:solidFill>
                  <a:srgbClr val="F8FAFC"/>
                </a:solidFill>
              </a:rPr>
              <a:t>
Computes points to next tier and releases financial points liability upon redemption.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OBJECTIVE 2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Cut-Down MCP Tool Gateway &amp; Unified LLM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Zero hardcoded endpoints in agents; strict schema enforcement and provider interoperability.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Cut-Down MCP Tool Gateway (Worker #2)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A855F7"/>
                </a:solidFill>
              </a:rPr>
              <a:t>Explicit Tool Contracts: </a:t>
            </a:r>
            <a:r>
              <a:rPr sz="1100">
                <a:solidFill>
                  <a:srgbClr val="F8FAFC"/>
                </a:solidFill>
              </a:rPr>
              <a:t>
Each tool declares: name, version, purpose, allowed_agents, input_schema, output_schema, transport.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55F7"/>
                </a:solidFill>
              </a:rPr>
              <a:t>Permission Enforcement: </a:t>
            </a:r>
            <a:r>
              <a:rPr sz="1100">
                <a:solidFill>
                  <a:srgbClr val="F8FAFC"/>
                </a:solidFill>
              </a:rPr>
              <a:t>
If Discovery attempts to call loyalty.accrue -&gt; Gateway returns 403 permission_denied.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55F7"/>
                </a:solidFill>
              </a:rPr>
              <a:t>Hot-Installation at Runtime: </a:t>
            </a:r>
            <a:r>
              <a:rPr sz="1100">
                <a:solidFill>
                  <a:srgbClr val="F8FAFC"/>
                </a:solidFill>
              </a:rPr>
              <a:t>
Contracts live in Cloudflare KV. Installing catalogue.trending.get increments registry from 22 to 23 tools with ZERO redeploy!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A855F7"/>
                </a:solidFill>
              </a:rPr>
              <a:t>Immutable Tool Audit: </a:t>
            </a:r>
            <a:r>
              <a:rPr sz="1100">
                <a:solidFill>
                  <a:srgbClr val="F8FAFC"/>
                </a:solidFill>
              </a:rPr>
              <a:t>
Invocations streamed to Cloudflare Analytics Engine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Enterprise LLM Gateway (Worker #3)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200">
                <a:solidFill>
                  <a:srgbClr val="F59E0B"/>
                </a:solidFill>
              </a:rPr>
              <a:t>Model Class Routing: </a:t>
            </a:r>
            <a:r>
              <a:rPr sz="1100">
                <a:solidFill>
                  <a:srgbClr val="F8FAFC"/>
                </a:solidFill>
              </a:rPr>
              <a:t>
Agents request a model class ('reasoning' or 'low_latency'), NEVER a provider name or raw model identifier.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9E0B"/>
                </a:solidFill>
              </a:rPr>
              <a:t>Provider Interoperability: </a:t>
            </a:r>
            <a:r>
              <a:rPr sz="1100">
                <a:solidFill>
                  <a:srgbClr val="F8FAFC"/>
                </a:solidFill>
              </a:rPr>
              <a:t>
Config switch toggles between Mock, OpenAI, Anthropic, and Workers AI with zero agent code change.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9E0B"/>
                </a:solidFill>
              </a:rPr>
              <a:t>Cloudflare AI Gateway: </a:t>
            </a:r>
            <a:r>
              <a:rPr sz="1100">
                <a:solidFill>
                  <a:srgbClr val="F8FAFC"/>
                </a:solidFill>
              </a:rPr>
              <a:t>
Universal upstream caching, unified request logging, rate-limiting, and analytics.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9E0B"/>
                </a:solidFill>
              </a:rPr>
              <a:t>Graceful Degradation: </a:t>
            </a:r>
            <a:r>
              <a:rPr sz="1100">
                <a:solidFill>
                  <a:srgbClr val="F8FAFC"/>
                </a:solidFill>
              </a:rPr>
              <a:t>
Catches provider timeouts/errors and gracefully degrades to mock Complete with degraded: true flag.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9E0B"/>
                </a:solidFill>
              </a:rPr>
              <a:t>Token Accounting: </a:t>
            </a:r>
            <a:r>
              <a:rPr sz="1100">
                <a:solidFill>
                  <a:srgbClr val="F8FAFC"/>
                </a:solidFill>
              </a:rPr>
              <a:t>
UsageCounter Durable Object maintains globally consistent token spend.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BUSINESS OUTCOME &amp; RETURN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Mathematical Return Reduction: 34.0% -&gt; 20.4%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Computed directly from live synthetic data via GET /outcome with transparent unit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Live Corpus Outcome Decomposition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Baseline Return Rate: </a:t>
            </a:r>
            <a:r>
              <a:rPr sz="1100">
                <a:solidFill>
                  <a:srgbClr val="F8FAFC"/>
                </a:solidFill>
              </a:rPr>
              <a:t>34.0% across 1,120 items (381 returns)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• Size &amp; Fit Lever: </a:t>
            </a:r>
            <a:r>
              <a:rPr sz="1100">
                <a:solidFill>
                  <a:srgbClr val="F8FAFC"/>
                </a:solidFill>
              </a:rPr>
              <a:t>19.7 pts × 65% reachable × 75% captured = -9.6 pp
(Delivered by Agent #3 Sizing &amp; Abstain Policy)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• Changed Mind Lever: </a:t>
            </a:r>
            <a:r>
              <a:rPr sz="1100">
                <a:solidFill>
                  <a:srgbClr val="F8FAFC"/>
                </a:solidFill>
              </a:rPr>
              <a:t>7.5 pts × 100% reachable × 40% captured = -3.0 pp
(Delivered by Discovery relevance + AR virtual try-on)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• Quality Defect Lever: </a:t>
            </a:r>
            <a:r>
              <a:rPr sz="1100">
                <a:solidFill>
                  <a:srgbClr val="F8FAFC"/>
                </a:solidFill>
              </a:rPr>
              <a:t>4.1 pts × 100% reachable × 25% captured = -1.0 pp
(Delivered by Supplier Quality Feedback Loop)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• Other / Damaged: </a:t>
            </a:r>
            <a:r>
              <a:rPr sz="1100">
                <a:solidFill>
                  <a:srgbClr val="F8FAFC"/>
                </a:solidFill>
              </a:rPr>
              <a:t>2.7 pts — no claim made (0.0 pp)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PROJECTED RETURN RATE: </a:t>
            </a:r>
            <a:r>
              <a:rPr sz="1100">
                <a:solidFill>
                  <a:srgbClr val="F8FAFC"/>
                </a:solidFill>
              </a:rPr>
              <a:t>20.4% (-13.6 percentage points removed)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737360"/>
            <a:ext cx="42976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9202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'Honest Architect'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8600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200">
                <a:solidFill>
                  <a:srgbClr val="10B981"/>
                </a:solidFill>
              </a:rPr>
              <a:t>Brief Target Band: </a:t>
            </a:r>
            <a:r>
              <a:rPr sz="1100">
                <a:solidFill>
                  <a:srgbClr val="F8FAFC"/>
                </a:solidFill>
              </a:rPr>
              <a:t>
10% to 15% return rate.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0B981"/>
                </a:solidFill>
              </a:rPr>
              <a:t>The Architectural Reality: </a:t>
            </a:r>
            <a:r>
              <a:rPr sz="1100">
                <a:solidFill>
                  <a:srgbClr val="F8FAFC"/>
                </a:solidFill>
              </a:rPr>
              <a:t>
Personalisation &amp; sizing AI alone remove 13.6 percentage points, reaching 20.4%.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0B981"/>
                </a:solidFill>
              </a:rPr>
              <a:t>Why Claiming 10% is False: </a:t>
            </a:r>
            <a:r>
              <a:rPr sz="1100">
                <a:solidFill>
                  <a:srgbClr val="F8FAFC"/>
                </a:solidFill>
              </a:rPr>
              <a:t>
Anyone claiming AI alone reaches 10% in fashion is ignoring retail physics. Sizing AI cannot fix fabric snags or buyer remorse.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0B981"/>
                </a:solidFill>
              </a:rPr>
              <a:t>What Closes the Remaining Gap: </a:t>
            </a:r>
            <a:r>
              <a:rPr sz="1100">
                <a:solidFill>
                  <a:srgbClr val="F8FAFC"/>
                </a:solidFill>
              </a:rPr>
              <a:t>
Assortment rationalization, supplier remediation, and commercial policy changes (e.g. charging return fees for multi-size brackets).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10B981"/>
                </a:solidFill>
              </a:rPr>
              <a:t>The Winning Pitch: </a:t>
            </a:r>
            <a:r>
              <a:rPr sz="1100">
                <a:solidFill>
                  <a:srgbClr val="F8FAFC"/>
                </a:solidFill>
              </a:rPr>
              <a:t>
Defensible engineering and commercial honesty beat hand-waving claims every single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OBJECTIVE 3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Eight Deliberate Blueprint Deviations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Calling out where the build improved on the M3 blueprint shows engineering maturity.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Durable Objects over Memory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Blueprint named Context Manager. We replaced single-process Maps with Cloudflare Durable Objects. Sessions are serialised, durable across deploys, and impossible to leak across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Synchronous Bindings over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Blueprint proposed Kafka bus. We substituted zero-latency Worker Service Bindings. Async paths are preserved without Kafka operational overhead at the edge.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TypeScript Predicates over Rego/OPA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Policy-as-code is implemented as pure TypeScript predicates. Same guarantee: evaluated inline, agent cannot overrule, and trace is permanently recorded.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4. Both Monetization Agents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548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Brief permitted selecting Upsell OR Loyalty. We built both to definitively prove cross-agent memory handoff (Loyalty reads Upsell's written entitlement for 2x multiplier).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LIVE DEMO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8-Minute Winning Rehearsal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tightly scripted live run covering all five functionalities, guardrails, and gateway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Part 1: The Personalisation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Beat 0 (30s): Baseline Grounding
</a:t>
            </a:r>
            <a:r>
              <a:rPr sz="1000">
                <a:solidFill>
                  <a:srgbClr val="F8FAFC"/>
                </a:solidFill>
              </a:rPr>
              <a:t>curl return-rate -&gt; 34.0% across 1,120 items.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Beat 1 (60s): Affluent Customer (Priya)
</a:t>
            </a:r>
            <a:r>
              <a:rPr sz="1000">
                <a:solidFill>
                  <a:srgbClr val="F8FAFC"/>
                </a:solidFill>
              </a:rPr>
              <a:t>'show me an occasion dress' -&gt; Profiling fires, 0.77 score, premium ranking.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Beat 2 (60s): Value Customer (Aditi)
</a:t>
            </a:r>
            <a:r>
              <a:rPr sz="1000">
                <a:solidFill>
                  <a:srgbClr val="F8FAFC"/>
                </a:solidFill>
              </a:rPr>
              <a:t>SAME query -&gt; Value/core ranking. 'Ranking differs, access does not.'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Beat 3 (45s): Fit with History
</a:t>
            </a:r>
            <a:r>
              <a:rPr sz="1000">
                <a:solidFill>
                  <a:srgbClr val="F8FAFC"/>
                </a:solidFill>
              </a:rPr>
              <a:t>'what size should I get?' -&gt; Size M at 99% confidence from 120k dataset Z-score.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38BDF8"/>
                </a:solidFill>
              </a:rPr>
              <a:t>Beat 4 (45s): Fit without History
</a:t>
            </a:r>
            <a:r>
              <a:rPr sz="1000">
                <a:solidFill>
                  <a:srgbClr val="F8FAFC"/>
                </a:solidFill>
              </a:rPr>
              <a:t>Aditi asks same question -&gt; Consent passes, history missing -&gt; AGENT ABSTAINS.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Part 2: Governance &amp;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Beat 5 (60s): Demonstrated Value Upsell
</a:t>
            </a:r>
            <a:r>
              <a:rPr sz="1000">
                <a:solidFill>
                  <a:srgbClr val="F8FAFC"/>
                </a:solidFill>
              </a:rPr>
              <a:t>Meera (3rd session) -&gt; Styling Plus offer (£4.99/mo). Reply: 'accept'.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Beat 6 (45s): Loyalty Memory Handoff
</a:t>
            </a:r>
            <a:r>
              <a:rPr sz="1000">
                <a:solidFill>
                  <a:srgbClr val="F8FAFC"/>
                </a:solidFill>
              </a:rPr>
              <a:t>'how many points did I earn?' -&gt; Reads entitlement -&gt; 2x multiplier applied!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Beat 7 (45s): Fairness Guardrail Block
</a:t>
            </a:r>
            <a:r>
              <a:rPr sz="1000">
                <a:solidFill>
                  <a:srgbClr val="F8FAFC"/>
                </a:solidFill>
              </a:rPr>
              <a:t>unsafeRanking=true -&gt; Diversity floor skips -&gt; Fairness guardrail BLOCKS!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Beat 8 (60s): MCP Permissions &amp; Hot-Load
</a:t>
            </a:r>
            <a:r>
              <a:rPr sz="1000">
                <a:solidFill>
                  <a:srgbClr val="F8FAFC"/>
                </a:solidFill>
              </a:rPr>
              <a:t>Discovery calls loyalty -&gt; 403 denied. Install trending tool -&gt; 22 to 23 tools live.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59E0B"/>
                </a:solidFill>
              </a:rPr>
              <a:t>Beat 9-10 (60s): Interop &amp; Outcome
</a:t>
            </a:r>
            <a:r>
              <a:rPr sz="1000">
                <a:solidFill>
                  <a:srgbClr val="F8FAFC"/>
                </a:solidFill>
              </a:rPr>
              <a:t>Switch LLM provider with zero code change -&gt; curl /outcome -&gt; 34% to 20.4%.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JUDGE DEFENSE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Anticipated Technical Questions &amp; Winning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Pre-empting tough questions with platform evidence and architectural proofs.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371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Q1: 'Can an agent perform SQL injection or dump customer data?'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Answer: Platform capability denial. Look at wrangler.jsonc—3 of the 4 Workers have NO D1 binding. The agent runtime does not possess a database handle. Platform security beats prompt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1371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Q2: 'Does affluence ranking discriminate against lower-income shoppers?'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Answer: 'Ranking differs, access does not.' Our fairness guardrail mathematically guarantees identical candidate pool eligibility and enforces multi-tier diversity. Any exclusion triggers an automatic fallback to neutral ranking.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Q3: 'What happens if OpenAI or Anthropic goes down during shopping?'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Answer: Graceful edge degradation. The LLM Gateway catches upstream timeouts, falls back to deterministic mock output with degraded: true, and never breaks the customer shopping session.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Neu.Tail Sets the Standard for Agentic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complete, working, edge-native personalization assistant grounded in real unit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480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Real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4 Isolated Cloudflare Workers</a:t>
            </a:r>
            <a:br/>
            <a:r>
              <a:t>• Platform zero-trust data model</a:t>
            </a:r>
            <a:br/>
            <a:r>
              <a:t>• Durable Objects for session turns</a:t>
            </a:r>
            <a:br/>
            <a:r>
              <a:t>• KV-backed runtime MCP tool contracts</a:t>
            </a:r>
            <a:br/>
            <a:r>
              <a:t>• AI Gateway caching &amp; rate-limiting</a:t>
            </a:r>
            <a:br/>
            <a:r>
              <a:t>• Braintrust automated prompt evals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Ethical &amp; Governed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Inline PII Minimisation</a:t>
            </a:r>
            <a:br/>
            <a:r>
              <a:t>• Biometric sizing consent gate</a:t>
            </a:r>
            <a:br/>
            <a:r>
              <a:t>• Mathematical fairness guardrails</a:t>
            </a:r>
            <a:br/>
            <a:r>
              <a:t>• Single-tier exclusion prevention</a:t>
            </a:r>
            <a:br/>
            <a:r>
              <a:t>• 70% confidence abstain rule</a:t>
            </a:r>
            <a:br/>
            <a:r>
              <a:t>• Append-only Analytics Engine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91840" cy="4480560"/>
          </a:xfrm>
          <a:prstGeom prst="roundRect">
            <a:avLst/>
          </a:prstGeom>
          <a:solidFill>
            <a:srgbClr val="18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202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Commercial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34.0% -&gt; 20.4% return rate reduction</a:t>
            </a:r>
            <a:br/>
            <a:r>
              <a:t>• 13.6 percentage points removed</a:t>
            </a:r>
            <a:br/>
            <a:r>
              <a:t>• Value-timed service upsell (£4.99/mo)</a:t>
            </a:r>
            <a:br/>
            <a:r>
              <a:t>• 2x loyalty accrual cross-agent loop</a:t>
            </a:r>
            <a:br/>
            <a:r>
              <a:t>• Honest retail economic breakdown</a:t>
            </a:r>
            <a:br/>
            <a:r>
              <a:t>• Production-ready on Cloudflare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